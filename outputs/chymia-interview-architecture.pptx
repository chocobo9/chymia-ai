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d794a7f0f64d5b" /><Relationship Type="http://schemas.openxmlformats.org/officeDocument/2006/relationships/extended-properties" Target="/docProps/app.xml" Id="R11eae7ee5eaf4641" /><Relationship Type="http://schemas.openxmlformats.org/officeDocument/2006/relationships/officeDocument" Target="/ppt/presentation.xml" Id="Rd64ba4e31add4c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9597ba352c4627"/>
  </p:sldMasterIdLst>
  <p:notesMasterIdLst>
    <p:notesMasterId xmlns:r="http://schemas.openxmlformats.org/officeDocument/2006/relationships" r:id="R61e55057e08c4e50"/>
  </p:notesMasterIdLst>
  <p:sldIdLst>
    <p:sldId xmlns:r="http://schemas.openxmlformats.org/officeDocument/2006/relationships" id="256" r:id="R5114c14988a14487"/>
    <p:sldId xmlns:r="http://schemas.openxmlformats.org/officeDocument/2006/relationships" id="257" r:id="Rd438081e30f94537"/>
    <p:sldId xmlns:r="http://schemas.openxmlformats.org/officeDocument/2006/relationships" id="258" r:id="Rbbc83d316f9b43e4"/>
    <p:sldId xmlns:r="http://schemas.openxmlformats.org/officeDocument/2006/relationships" id="259" r:id="Rcd28b408a98f45a1"/>
    <p:sldId xmlns:r="http://schemas.openxmlformats.org/officeDocument/2006/relationships" id="260" r:id="Ra4ca62fac0f84f99"/>
    <p:sldId xmlns:r="http://schemas.openxmlformats.org/officeDocument/2006/relationships" id="261" r:id="Rb5e045c58a4045df"/>
    <p:sldId xmlns:r="http://schemas.openxmlformats.org/officeDocument/2006/relationships" id="262" r:id="R117f17e1733f403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ae9e49974f4980" /><Relationship Type="http://schemas.openxmlformats.org/officeDocument/2006/relationships/slideMaster" Target="/ppt/slideMasters/slideMaster1.xml" Id="Ra19597ba352c4627" /><Relationship Type="http://schemas.openxmlformats.org/officeDocument/2006/relationships/notesMaster" Target="/ppt/notesMasters/notesMaster1.xml" Id="R61e55057e08c4e50" /><Relationship Type="http://schemas.openxmlformats.org/officeDocument/2006/relationships/presProps" Target="/ppt/presProps.xml" Id="R42338a2063764f3e" /><Relationship Type="http://schemas.openxmlformats.org/officeDocument/2006/relationships/tableStyles" Target="/ppt/tableStyles.xml" Id="R630bea9c90c14523" /><Relationship Type="http://schemas.openxmlformats.org/officeDocument/2006/relationships/slide" Target="/ppt/slides/slide1.xml" Id="R5114c14988a14487" /><Relationship Type="http://schemas.openxmlformats.org/officeDocument/2006/relationships/slide" Target="/ppt/slides/slide2.xml" Id="Rd438081e30f94537" /><Relationship Type="http://schemas.openxmlformats.org/officeDocument/2006/relationships/slide" Target="/ppt/slides/slide3.xml" Id="Rbbc83d316f9b43e4" /><Relationship Type="http://schemas.openxmlformats.org/officeDocument/2006/relationships/slide" Target="/ppt/slides/slide4.xml" Id="Rcd28b408a98f45a1" /><Relationship Type="http://schemas.openxmlformats.org/officeDocument/2006/relationships/slide" Target="/ppt/slides/slide5.xml" Id="Ra4ca62fac0f84f99" /><Relationship Type="http://schemas.openxmlformats.org/officeDocument/2006/relationships/slide" Target="/ppt/slides/slide6.xml" Id="Rb5e045c58a4045df" /><Relationship Type="http://schemas.openxmlformats.org/officeDocument/2006/relationships/slide" Target="/ppt/slides/slide7.xml" Id="R117f17e1733f40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c16bb9705d47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2f6a7b8a7a4ead" /><Relationship Type="http://schemas.openxmlformats.org/officeDocument/2006/relationships/notesMaster" Target="/ppt/notesMasters/notesMaster1.xml" Id="R701c0ee671da4d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809309cc21433d" /><Relationship Type="http://schemas.openxmlformats.org/officeDocument/2006/relationships/notesMaster" Target="/ppt/notesMasters/notesMaster1.xml" Id="R871ef032f26f4c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5029f0ba6f425f" /><Relationship Type="http://schemas.openxmlformats.org/officeDocument/2006/relationships/notesMaster" Target="/ppt/notesMasters/notesMaster1.xml" Id="Rdb06785b803e41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92fa3ea6d746a6" /><Relationship Type="http://schemas.openxmlformats.org/officeDocument/2006/relationships/notesMaster" Target="/ppt/notesMasters/notesMaster1.xml" Id="R020200d7e79c44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5f9de8e6bd4a52" /><Relationship Type="http://schemas.openxmlformats.org/officeDocument/2006/relationships/notesMaster" Target="/ppt/notesMasters/notesMaster1.xml" Id="R8261807bd3b748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3732d0091041bd" /><Relationship Type="http://schemas.openxmlformats.org/officeDocument/2006/relationships/notesMaster" Target="/ppt/notesMasters/notesMaster1.xml" Id="R45d0f3999fde49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8c901cbb504e8b" /><Relationship Type="http://schemas.openxmlformats.org/officeDocument/2006/relationships/notesMaster" Target="/ppt/notesMasters/notesMaster1.xml" Id="R21ee1401330f46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2f43f5006d43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a78ead00b342ff" /><Relationship Type="http://schemas.openxmlformats.org/officeDocument/2006/relationships/slideLayout" Target="/ppt/slideLayouts/slideLayout1.xml" Id="Rc13a91479c934a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3a91479c934a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2742b928754d70" /><Relationship Type="http://schemas.openxmlformats.org/officeDocument/2006/relationships/notesSlide" Target="/ppt/notesSlides/notesSlide1.xml" Id="Rb2d31c4f8e7b4a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f2222945e94b19" /><Relationship Type="http://schemas.openxmlformats.org/officeDocument/2006/relationships/notesSlide" Target="/ppt/notesSlides/notesSlide2.xml" Id="R9643056d755048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c6dd7acbc4bc8" /><Relationship Type="http://schemas.openxmlformats.org/officeDocument/2006/relationships/notesSlide" Target="/ppt/notesSlides/notesSlide3.xml" Id="Rdc1588243b244e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582d6abeee47bf" /><Relationship Type="http://schemas.openxmlformats.org/officeDocument/2006/relationships/notesSlide" Target="/ppt/notesSlides/notesSlide4.xml" Id="R8c7922720f734a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bac9c313c445f6" /><Relationship Type="http://schemas.openxmlformats.org/officeDocument/2006/relationships/notesSlide" Target="/ppt/notesSlides/notesSlide5.xml" Id="R9849eefe596f41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6d63b3ebe54364" /><Relationship Type="http://schemas.openxmlformats.org/officeDocument/2006/relationships/notesSlide" Target="/ppt/notesSlides/notesSlide6.xml" Id="R8f1e1a52cd9241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5936b47a8a45eb" /><Relationship Type="http://schemas.openxmlformats.org/officeDocument/2006/relationships/notesSlide" Target="/ppt/notesSlides/notesSlide7.xml" Id="R858ef4483fd642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CB24D4-A25D-493E-9148-28ABE492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2857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374E1"/>
                </a:solidFill>
              </a:defRPr>
            </a:pPr>
            <a:r>
              <a:rPr sz="1050" b="1">
                <a:solidFill>
                  <a:srgbClr val="2374E1"/>
                </a:solidFill>
              </a:rPr>
              <a:t>面向个人开发者的多 Agent CLI 协作平台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39C3E4-1834-4873-B092-98D0050C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52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111111"/>
                </a:solidFill>
              </a:defRPr>
            </a:pPr>
            <a:r>
              <a:rPr sz="5850" b="1">
                <a:solidFill>
                  <a:srgbClr val="111111"/>
                </a:solidFill>
              </a:rPr>
              <a:t>Chymia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603D64-94D8-40CC-919B-797760D6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5550"/>
            <a:ext cx="781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1111"/>
                </a:solidFill>
              </a:defRPr>
            </a:pPr>
            <a:r>
              <a:rPr sz="2325" b="0">
                <a:solidFill>
                  <a:srgbClr val="111111"/>
                </a:solidFill>
              </a:rPr>
              <a:t>把异构 Agent CLI 接入一个可控、可追踪的协作层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24BE04-1A76-4561-B687-9DC1EA0B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面试架构讲解  · 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BB1B41-E348-4380-972D-51A272A5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742950"/>
            <a:ext cx="3143250" cy="495300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F4F6F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57F481-33C7-41AD-B121-11180D8A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1811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协作层的边界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CB4E1D-D6B3-47FE-A49F-B14819DA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90700"/>
            <a:ext cx="304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4E1"/>
          </a:solidFill>
          <a:ln xmlns:a="http://schemas.openxmlformats.org/drawingml/2006/main" w="0">
            <a:solidFill>
              <a:srgbClr val="2374E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F3D05D-0305-421E-A83F-7B662804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002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Thread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AFF3D6-3FBC-47BC-99D0-E5CA4A8F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66925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统一任务与公开结论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E0F423-98DA-4BA9-B16F-9BDB773A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09850"/>
            <a:ext cx="304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4E1"/>
          </a:solidFill>
          <a:ln xmlns:a="http://schemas.openxmlformats.org/drawingml/2006/main" w="0">
            <a:solidFill>
              <a:srgbClr val="2374E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02FAC9-F6DB-4195-BF2F-B98B20BE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193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20642E-A20A-4DB1-87CC-BC0D17DC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86075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按角色组装一次调用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87A942-F435-4890-9A81-17B9C21D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304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4E1"/>
          </a:solidFill>
          <a:ln xmlns:a="http://schemas.openxmlformats.org/drawingml/2006/main" w="0">
            <a:solidFill>
              <a:srgbClr val="2374E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620D21-FCFB-43E6-9794-67D2F1F8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385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Adapter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E74DA9-E416-4DA7-B5F3-90AF9513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05225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抹平 CLI 接入差异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87929D-9E76-401C-A59A-EE3C5553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48150"/>
            <a:ext cx="304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4E1"/>
          </a:solidFill>
          <a:ln xmlns:a="http://schemas.openxmlformats.org/drawingml/2006/main" w="0">
            <a:solidFill>
              <a:srgbClr val="2374E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7E502E-31E4-49C7-B97F-812F4F5B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2576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Audit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61F99C-CF51-45F3-BF27-D37EE045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524375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事件、会话与结果可追踪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E9A8DA-9DA9-4B7D-811E-2C2A4CCD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49D515-BF95-493D-BE37-7B87E8CA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Chymia 不重写各 CLI 的 Agent Runtime；重点是把它们协作起来。</a:t>
            </a:r>
          </a:p>
        </p:txBody>
      </p:sp>
    </p:spTree>
    <p:extLst>
      <p:ext uri="{BB962C8B-B14F-4D97-AF65-F5344CB8AC3E}">
        <p14:creationId xmlns:p14="http://schemas.microsoft.com/office/powerpoint/2010/main" val="9143937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C71BFB-72C1-49CB-82C0-4D9CF2C9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374E1"/>
                </a:solidFill>
              </a:defRPr>
            </a:pPr>
            <a:r>
              <a:rPr sz="1125" b="1">
                <a:solidFill>
                  <a:srgbClr val="2374E1"/>
                </a:solidFill>
              </a:rPr>
              <a:t>CONTENTS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7BEB13-765C-4E30-8F01-E6F72818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11111"/>
                </a:solidFill>
              </a:defRPr>
            </a:pPr>
            <a:r>
              <a:rPr sz="3675" b="1">
                <a:solidFill>
                  <a:srgbClr val="111111"/>
                </a:solidFill>
              </a:rPr>
              <a:t>这五页只回答五个问题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2703A-20FC-4D0D-8EB3-286A131E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74E1"/>
                </a:solidFill>
              </a:defRPr>
            </a:pPr>
            <a:r>
              <a:rPr sz="1350" b="1">
                <a:solidFill>
                  <a:srgbClr val="2374E1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AC373E-3C2C-439F-AD07-30D9D722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8597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工程架构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E72DA0-1C29-4820-B719-B4A43093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336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Chymia 在整个系统里负责什么？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84E6B8-826C-4E50-AE8F-CB9776EA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47900"/>
            <a:ext cx="110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374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7F486F-D681-447E-8C6A-52064D0C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479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74E1"/>
                </a:solidFill>
              </a:defRPr>
            </a:pPr>
            <a:r>
              <a:rPr sz="1350" b="1">
                <a:solidFill>
                  <a:srgbClr val="2374E1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A26205-515B-4429-A372-CB87B55F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194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协作单位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93BB54-1A82-4D07-ACFA-D0852A3F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670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Thread 如何让多 CLI 串并行协作？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9A0E60-3FE0-4619-B2C2-472B5ACD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81325"/>
            <a:ext cx="110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441826-1644-476A-A860-67933153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74E1"/>
                </a:solidFill>
              </a:defRPr>
            </a:pPr>
            <a:r>
              <a:rPr sz="1350" b="1">
                <a:solidFill>
                  <a:srgbClr val="2374E1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E7596B-73A1-465C-90FC-AAD9FA99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55282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上下文与记忆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6B16F4-A7AE-4B51-8B8B-93BD79E3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004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每次调用带什么，状态如何留下？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55C4FA-8AD8-43D3-9782-0169AA43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14750"/>
            <a:ext cx="110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46DBDA-72DA-437D-99A6-CCE2639C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74E1"/>
                </a:solidFill>
              </a:defRPr>
            </a:pPr>
            <a:r>
              <a:rPr sz="1350" b="1">
                <a:solidFill>
                  <a:srgbClr val="2374E1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EF6CF9-20E8-4D36-9129-6B619976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2862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Skill、Tool 与 MCP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2AB544-9D99-481E-8680-D6D8F41E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3387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能力如何授予、调用与回流？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DC875C-1B1C-43BD-9E38-FCE4C371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48175"/>
            <a:ext cx="110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DD3450-9D11-4605-882D-47809F31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74E1"/>
                </a:solidFill>
              </a:defRPr>
            </a:pPr>
            <a:r>
              <a:rPr sz="1350" b="1">
                <a:solidFill>
                  <a:srgbClr val="2374E1"/>
                </a:solidFill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8ECBD3-38E3-4BF3-8DD8-7C12A2FA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1967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验收与审计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10B72A-0B22-45B7-90C2-2192225A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673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怎样知道一次协作是否值得信任？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2A8978-D578-4480-8511-06205E03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181600"/>
            <a:ext cx="110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335A6F-B178-407F-B818-3C67561C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CFC7D2-6E26-4955-86D7-D9D4DE47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从系统边界开始，再落到协作、状态、能力与验收。</a:t>
            </a:r>
          </a:p>
        </p:txBody>
      </p:sp>
    </p:spTree>
    <p:extLst>
      <p:ext uri="{BB962C8B-B14F-4D97-AF65-F5344CB8AC3E}">
        <p14:creationId xmlns:p14="http://schemas.microsoft.com/office/powerpoint/2010/main" val="21181615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85F6EA-E640-48EE-B045-AD256A1F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374E1"/>
                </a:solidFill>
              </a:defRPr>
            </a:pPr>
            <a:r>
              <a:rPr sz="975" b="1">
                <a:solidFill>
                  <a:srgbClr val="2374E1"/>
                </a:solidFill>
              </a:rPr>
              <a:t>CHYMIA  /  INTERVIEW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A46220-86DF-4429-BFB8-4FBCE9F1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385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F6368"/>
                </a:solidFill>
              </a:defRPr>
            </a:pPr>
            <a:r>
              <a:rPr sz="975" b="1">
                <a:solidFill>
                  <a:srgbClr val="5F6368"/>
                </a:solidFill>
              </a:rPr>
              <a:t>01 /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B197A-2B39-41FF-9D99-585ECDF2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11111"/>
                </a:solidFill>
              </a:defRPr>
            </a:pPr>
            <a:r>
              <a:rPr sz="3375" b="1">
                <a:solidFill>
                  <a:srgbClr val="111111"/>
                </a:solidFill>
              </a:rPr>
              <a:t>平台不重写 CLI Runtime，而是统一外层协作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CD43DB-BFB2-460B-9E8A-740642AF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368"/>
                </a:solidFill>
              </a:defRPr>
            </a:pPr>
            <a:r>
              <a:rPr sz="1500" b="0">
                <a:solidFill>
                  <a:srgbClr val="5F6368"/>
                </a:solidFill>
              </a:rPr>
              <a:t>路由不必由小模型判断；当前可以是用户 @ 选择与确定性规则。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48BA7D-A146-45B5-9FF0-7237C18E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0668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5DA63D-1A5C-4373-9461-C3703CF7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用户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53543E-82FF-4E59-A853-5A6ACD44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81275"/>
            <a:ext cx="83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Web 输入</a:t>
            </a:r>
          </a:p>
          <a:p xmlns:a="http://schemas.openxmlformats.org/drawingml/2006/main">
            <a:pPr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@ 选择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F07B12-5499-45B4-89FD-5D10B7D4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171700"/>
            <a:ext cx="11620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FD8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10D0CC-C313-44E6-B88B-80F9B662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30505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74E1"/>
                </a:solidFill>
              </a:defRPr>
            </a:pPr>
            <a:r>
              <a:rPr sz="1350" b="1">
                <a:solidFill>
                  <a:srgbClr val="2374E1"/>
                </a:solidFill>
              </a:rPr>
              <a:t>Thread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5833E6-626D-45A6-9EEE-4DAE889A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581275"/>
            <a:ext cx="93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消息 / 结论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3ACF82-D282-47A0-B8E8-EAD9D332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71700"/>
            <a:ext cx="11620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90920F-CABD-4507-A96F-D64A4DB1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0505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路由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340E52-9FAA-41FC-84FB-60157C5A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81275"/>
            <a:ext cx="93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目标与模式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035CCC-6DAE-479A-BC34-AA5B7FD7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171700"/>
            <a:ext cx="12954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C1A992-72F0-400D-8E85-1D3CC19E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05050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Context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B4034B-44B5-4387-8C90-AAB236A0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81275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角色 / 历史</a:t>
            </a:r>
          </a:p>
          <a:p xmlns:a="http://schemas.openxmlformats.org/drawingml/2006/main">
            <a:pPr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证据 / Skill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B3E452-CEC5-407C-8FE0-7F8554A2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13144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90C451-0B13-4184-B998-5AE23975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050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Invocation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CCEE57-8FD2-4A9D-8945-61642418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81275"/>
            <a:ext cx="1085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一次可审计 turn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90683F-0E5D-4EB2-9659-B4EDD298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71700"/>
            <a:ext cx="12573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FD8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7F8ACD-3993-4900-8877-4E1E97F1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0505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74E1"/>
                </a:solidFill>
              </a:defRPr>
            </a:pPr>
            <a:r>
              <a:rPr sz="1350" b="1">
                <a:solidFill>
                  <a:srgbClr val="2374E1"/>
                </a:solidFill>
              </a:rPr>
              <a:t>Adapter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BEA9E8-02F1-4055-B308-60E75621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81275"/>
            <a:ext cx="1028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统一接入层</a:t>
            </a:r>
          </a:p>
          <a:p xmlns:a="http://schemas.openxmlformats.org/drawingml/2006/main">
            <a:pPr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处理差异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2D32D7-6F79-43F1-81E8-41A8B96E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71700"/>
            <a:ext cx="1619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F1BC8F-1B71-4218-B58E-4B9CDFFD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0505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Agent CLI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450FB8-144B-4222-B590-88DBC281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81275"/>
            <a:ext cx="139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Claude / Codex / Gemini</a:t>
            </a:r>
          </a:p>
          <a:p xmlns:a="http://schemas.openxmlformats.org/drawingml/2006/main">
            <a:pPr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独立 Runtime</a:t>
            </a:r>
          </a:p>
        </p:txBody>
      </p:sp>
      <p:cxnSp>
        <p:nvCxnSpPr>
          <p:cNvPr id="67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676400" y="26003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74E1"/>
            </a:solidFill>
            <a:prstDash val="solid"/>
            <a:tailEnd type="arrow" w="sm" len="sm"/>
          </a:ln>
        </p:spPr>
      </p:cxnSp>
      <p:cxnSp>
        <p:nvCxnSpPr>
          <p:cNvPr id="68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086100" y="26003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74E1"/>
            </a:solidFill>
            <a:prstDash val="solid"/>
            <a:tailEnd type="arrow" w="sm" len="sm"/>
          </a:ln>
        </p:spPr>
      </p:cxnSp>
      <p:cxnSp>
        <p:nvCxnSpPr>
          <p:cNvPr id="69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495800" y="26003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74E1"/>
            </a:solidFill>
            <a:prstDash val="solid"/>
            <a:tailEnd type="arrow" w="sm" len="sm"/>
          </a:ln>
        </p:spPr>
      </p:cxnSp>
      <p:cxnSp>
        <p:nvCxnSpPr>
          <p:cNvPr id="70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6038850" y="26003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74E1"/>
            </a:solidFill>
            <a:prstDash val="solid"/>
            <a:tailEnd type="arrow" w="sm" len="sm"/>
          </a:ln>
        </p:spPr>
      </p:cxnSp>
      <p:cxnSp>
        <p:nvCxnSpPr>
          <p:cNvPr id="71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600950" y="26003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74E1"/>
            </a:solidFill>
            <a:prstDash val="solid"/>
            <a:tailEnd type="arrow" w="sm" len="sm"/>
          </a:ln>
        </p:spPr>
      </p:cxnSp>
      <p:cxnSp>
        <p:nvCxnSpPr>
          <p:cNvPr id="72" name=""/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9105900" y="26003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74E1"/>
            </a:solidFill>
            <a:prstDash val="solid"/>
            <a:tailEnd type="arrow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8F9958-003A-4CDC-AF31-A1FD0903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886200"/>
            <a:ext cx="3333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B6E6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E4F230-B69A-4A5E-9578-2099D487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19550"/>
            <a:ext cx="3067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8A64"/>
                </a:solidFill>
              </a:defRPr>
            </a:pPr>
            <a:r>
              <a:rPr sz="1650" b="1">
                <a:solidFill>
                  <a:srgbClr val="138A64"/>
                </a:solidFill>
              </a:rPr>
              <a:t>统一 Event + SQLite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8FE3D8-2BE5-4219-B7A3-24D9F10A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295775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368"/>
                </a:solidFill>
              </a:defRPr>
            </a:pPr>
            <a:r>
              <a:rPr sz="1125" b="0">
                <a:solidFill>
                  <a:srgbClr val="5F6368"/>
                </a:solidFill>
              </a:rPr>
              <a:t>文本输出、工具结果、完成/失败状态、Session 与 Invocation 关联</a:t>
            </a:r>
          </a:p>
        </p:txBody>
      </p:sp>
      <p:cxnSp>
        <p:nvCxnSpPr>
          <p:cNvPr id="76" name=""/>
          <p:cNvCxnSpPr>
            <a:stCxn xmlns:a="http://schemas.openxmlformats.org/drawingml/2006/main" id="23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 flipH="1">
            <a:off x="9305925" y="3028950"/>
            <a:ext cx="857250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8A64"/>
            </a:solidFill>
            <a:prstDash val="solid"/>
            <a:tailEnd type="arrow" w="sm" len="sm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3A05AA-2F58-43E2-AFDF-36405262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64389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3DD"/>
          </a:solidFill>
          <a:ln xmlns:a="http://schemas.openxmlformats.org/drawingml/2006/main" w="9525">
            <a:solidFill>
              <a:srgbClr val="F7DCA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7D59E3-7B7F-497F-ADDF-30D9EB4B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56800"/>
                </a:solidFill>
              </a:defRPr>
            </a:pPr>
            <a:r>
              <a:rPr sz="1350" b="1">
                <a:solidFill>
                  <a:srgbClr val="B56800"/>
                </a:solidFill>
              </a:rPr>
              <a:t>Chymia 负责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62C0A1-9D21-4751-8C9D-A50B80E4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95750"/>
            <a:ext cx="432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协作编排  /  Context 组装  /  调用记录  /  CLI 接入  /  审计留痕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2F1158-D002-426F-904C-403108E8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91025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368"/>
                </a:solidFill>
              </a:defRPr>
            </a:pPr>
            <a:r>
              <a:rPr sz="1125" b="0">
                <a:solidFill>
                  <a:srgbClr val="5F6368"/>
                </a:solidFill>
              </a:rPr>
              <a:t>不接管各 CLI 内部的推理、工具选择与原生子 Agent 行为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FD0D11-C5D6-4C0C-AD66-EF549E43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642BF0-2355-4A0B-91E4-482BF246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一条主链路：用户任务 → 协作层 → 独立 CLI Runtime → 结构化事件与可追溯结果。</a:t>
            </a:r>
          </a:p>
        </p:txBody>
      </p:sp>
    </p:spTree>
    <p:extLst>
      <p:ext uri="{BB962C8B-B14F-4D97-AF65-F5344CB8AC3E}">
        <p14:creationId xmlns:p14="http://schemas.microsoft.com/office/powerpoint/2010/main" val="9091151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6060B5F-749B-4B02-81A8-FD8095DA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374E1"/>
                </a:solidFill>
              </a:defRPr>
            </a:pPr>
            <a:r>
              <a:rPr sz="975" b="1">
                <a:solidFill>
                  <a:srgbClr val="2374E1"/>
                </a:solidFill>
              </a:rPr>
              <a:t>CHYMIA  /  INTERVIEW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3B48F7-DD2F-4BEB-BFCA-0027FA1A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385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F6368"/>
                </a:solidFill>
              </a:defRPr>
            </a:pPr>
            <a:r>
              <a:rPr sz="975" b="1">
                <a:solidFill>
                  <a:srgbClr val="5F6368"/>
                </a:solidFill>
              </a:rPr>
              <a:t>02 /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571532-236E-4496-9A1B-ADCA246F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11111"/>
                </a:solidFill>
              </a:defRPr>
            </a:pPr>
            <a:r>
              <a:rPr sz="3375" b="1">
                <a:solidFill>
                  <a:srgbClr val="111111"/>
                </a:solidFill>
              </a:rPr>
              <a:t>Thread 让独立 CLI 形成可控的协作链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BC28F8-2777-4B4F-8059-A32D725C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368"/>
                </a:solidFill>
              </a:defRPr>
            </a:pPr>
            <a:r>
              <a:rPr sz="1500" b="0">
                <a:solidFill>
                  <a:srgbClr val="5F6368"/>
                </a:solidFill>
              </a:rPr>
              <a:t>私有 Session 默认隔离；写入 Thread 的结论才成为下一位 Agent 可见的上下文。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5E2D7A-C25C-4AE9-85FA-5684AC95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448050" cy="3714750"/>
          </a:xfrm>
          <a:prstGeom xmlns:a="http://schemas.openxmlformats.org/drawingml/2006/main" prst="roundRect">
            <a:avLst>
              <a:gd name="adj" fmla="val 442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FD8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B648E5-3080-4F0C-81FD-4613E535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374E1"/>
                </a:solidFill>
              </a:defRPr>
            </a:pPr>
            <a:r>
              <a:rPr sz="2175" b="1">
                <a:solidFill>
                  <a:srgbClr val="2374E1"/>
                </a:solidFill>
              </a:rPr>
              <a:t>共享的 Thread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F8E82B-B468-496E-8D39-9EA4D1F1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247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4E1"/>
          </a:solidFill>
          <a:ln xmlns:a="http://schemas.openxmlformats.org/drawingml/2006/main" w="0">
            <a:solidFill>
              <a:srgbClr val="2374E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B12E54-B5D9-4801-8FB5-76E4C1BE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0037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用户任务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F0BDC6-2F7C-4BD4-8ADC-B71A7C9A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0099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谁被 @，并发还是串行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0118E8-91AA-4867-8B45-E77E4F6E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247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4E1"/>
          </a:solidFill>
          <a:ln xmlns:a="http://schemas.openxmlformats.org/drawingml/2006/main" w="0">
            <a:solidFill>
              <a:srgbClr val="2374E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68E694-96CE-4635-ACE0-0FDA4063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9092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公开结论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643E0A-F8C5-4B18-B74A-266D36E2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6004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可被下一位 Agent 读取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1894E5-DBF8-4FDF-9651-F7C08037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247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4E1"/>
          </a:solidFill>
          <a:ln xmlns:a="http://schemas.openxmlformats.org/drawingml/2006/main" w="0">
            <a:solidFill>
              <a:srgbClr val="2374E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078438-5E44-46B4-9453-44A827F3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8147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任务状态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0EDA28-DD54-4D6E-A0E8-D96520A3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1910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待办、完成与失败原因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843C93-FD63-4E5B-B379-63816AD5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81550"/>
            <a:ext cx="247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4E1"/>
          </a:solidFill>
          <a:ln xmlns:a="http://schemas.openxmlformats.org/drawingml/2006/main" w="0">
            <a:solidFill>
              <a:srgbClr val="2374E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BC9D96-883C-4B14-8FBB-9DD7B38D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7202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审计记录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A16924-9EC7-4425-A9EC-B3264276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7815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Invocation / Session / Event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DAFEAE-87DF-4A8A-A3E4-A0BDD49E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270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Thread 是持续协作空间，</a:t>
            </a:r>
          </a:p>
          <a:p xmlns:a="http://schemas.openxmlformats.org/drawingml/2006/main">
            <a:pPr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而不是把所有 CLI 的私有上下文硬拼在一起。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489E08-2A37-4A97-BA11-4C61F07C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47900"/>
            <a:ext cx="2000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2C140B-3C0D-4D0F-A2B8-F6C6C734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81250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Gemini / 架构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187328-C005-4ABF-A506-430D2209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657475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研究与设计结论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E814AA-9DE0-4536-837F-3D527788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47900"/>
            <a:ext cx="2000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B0C5B1-356A-4E50-AF51-F1912096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81250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Claude / 开发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40F82F-B1DB-4D3F-862F-5C14A211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57475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读取结论后实现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5EB20C-701F-48AD-961B-E6DA47DD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05300"/>
            <a:ext cx="2000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08F0EB-EBC4-48A2-961C-E40E1EAA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38650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Codex / 验收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702B8D-A02E-4E9A-947E-365C4449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14875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检查实现与证据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22C04E-4623-4E02-B224-92880E03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38550"/>
            <a:ext cx="2000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B6E6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75869A-D8EC-4B4A-B983-3227D41A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8A64"/>
                </a:solidFill>
              </a:defRPr>
            </a:pPr>
            <a:r>
              <a:rPr sz="1350" b="1">
                <a:solidFill>
                  <a:srgbClr val="138A64"/>
                </a:solidFill>
              </a:rPr>
              <a:t>写回公开结论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ECF1B3-1366-4E97-8B50-F7017256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48125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或 Handoff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40F231-69D9-4418-8D19-EBF42813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62500"/>
            <a:ext cx="2000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B6E6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8EFD1E-E9B9-478B-B4CB-09D0F300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95850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8A64"/>
                </a:solidFill>
              </a:defRPr>
            </a:pPr>
            <a:r>
              <a:rPr sz="1350" b="1">
                <a:solidFill>
                  <a:srgbClr val="138A64"/>
                </a:solidFill>
              </a:rPr>
              <a:t>写回公开结果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C01F2A-EA71-4CB2-B5A2-719805D6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172075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供复核与追溯</a:t>
            </a:r>
          </a:p>
        </p:txBody>
      </p:sp>
      <p:cxnSp>
        <p:nvCxnSpPr>
          <p:cNvPr id="79" name=""/>
          <p:cNvCxnSpPr>
            <a:stCxn xmlns:a="http://schemas.openxmlformats.org/drawingml/2006/main" id="20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5762625" y="3105150"/>
            <a:ext cx="0" cy="533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8A64"/>
            </a:solidFill>
            <a:prstDash val="solid"/>
            <a:tailEnd type="arrow" w="sm" len="sm"/>
          </a:ln>
        </p:spPr>
      </p:cxnSp>
      <p:cxnSp>
        <p:nvCxnSpPr>
          <p:cNvPr id="80" name=""/>
          <p:cNvCxnSpPr>
            <a:stCxn xmlns:a="http://schemas.openxmlformats.org/drawingml/2006/main" id="29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V="1">
            <a:off x="6762750" y="2676525"/>
            <a:ext cx="762000" cy="1304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374E1"/>
            </a:solidFill>
            <a:prstDash val="solid"/>
            <a:tailEnd type="arrow" w="sm" len="sm"/>
          </a:ln>
        </p:spPr>
      </p:cxnSp>
      <p:cxnSp>
        <p:nvCxnSpPr>
          <p:cNvPr id="81" name=""/>
          <p:cNvCxnSpPr>
            <a:stCxn xmlns:a="http://schemas.openxmlformats.org/drawingml/2006/main" id="23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8524875" y="3105150"/>
            <a:ext cx="0" cy="1200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74E1"/>
            </a:solidFill>
            <a:prstDash val="solid"/>
            <a:tailEnd type="arrow" w="sm" len="sm"/>
          </a:ln>
        </p:spPr>
      </p:cxnSp>
      <p:cxnSp>
        <p:nvCxnSpPr>
          <p:cNvPr id="82" name=""/>
          <p:cNvCxnSpPr>
            <a:stCxn xmlns:a="http://schemas.openxmlformats.org/drawingml/2006/main" id="26" idx="1"/>
            <a:endCxn xmlns:a="http://schemas.openxmlformats.org/drawingml/2006/main" id="32" idx="3"/>
          </p:cNvCxnSpPr>
          <p:nvPr/>
        </p:nvCxnSpPr>
        <p:spPr>
          <a:xfrm xmlns:a="http://schemas.openxmlformats.org/drawingml/2006/main" flipH="1">
            <a:off x="6762750" y="4733925"/>
            <a:ext cx="762000" cy="3714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38A64"/>
            </a:solidFill>
            <a:prstDash val="solid"/>
            <a:tailEnd type="arrow" w="sm" len="sm"/>
          </a:ln>
        </p:spPr>
      </p:cxnSp>
      <p:cxnSp>
        <p:nvCxnSpPr>
          <p:cNvPr id="83" name=""/>
          <p:cNvCxnSpPr>
            <a:stCxn xmlns:a="http://schemas.openxmlformats.org/drawingml/2006/main" id="29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5762625" y="432435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DEE5"/>
            </a:solidFill>
            <a:prstDash val="dash"/>
            <a:headEnd type="none" w="med" len="me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A8D14BD-B016-4479-8B1C-2B2D52C3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952625"/>
            <a:ext cx="742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D9DEE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private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6C6E758-A679-4F03-95B5-54BD34F2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52625"/>
            <a:ext cx="742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D9DEE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private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F4081FA-7C96-48A4-8433-F2B7CE11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10025"/>
            <a:ext cx="742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D9DEE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private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0EA457-39CE-47B4-87EF-526FE8F9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CA21ABE-E5E7-43DB-9EDA-20DD0379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临时加入 Agent = 新建受配置约束的会话；冻结 = 后续路由不再派发给它。</a:t>
            </a:r>
          </a:p>
        </p:txBody>
      </p:sp>
    </p:spTree>
    <p:extLst>
      <p:ext uri="{BB962C8B-B14F-4D97-AF65-F5344CB8AC3E}">
        <p14:creationId xmlns:p14="http://schemas.microsoft.com/office/powerpoint/2010/main" val="7447920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E3EE3B-ECC2-4C99-B629-2C914551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374E1"/>
                </a:solidFill>
              </a:defRPr>
            </a:pPr>
            <a:r>
              <a:rPr sz="975" b="1">
                <a:solidFill>
                  <a:srgbClr val="2374E1"/>
                </a:solidFill>
              </a:rPr>
              <a:t>CHYMIA  /  INTERVIEW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F9A08A-D38B-4850-A4B1-4F711811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385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F6368"/>
                </a:solidFill>
              </a:defRPr>
            </a:pPr>
            <a:r>
              <a:rPr sz="975" b="1">
                <a:solidFill>
                  <a:srgbClr val="5F6368"/>
                </a:solidFill>
              </a:rPr>
              <a:t>03 /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86BF6D-18EC-494D-9690-1429EA28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11111"/>
                </a:solidFill>
              </a:defRPr>
            </a:pPr>
            <a:r>
              <a:rPr sz="3375" b="1">
                <a:solidFill>
                  <a:srgbClr val="111111"/>
                </a:solidFill>
              </a:rPr>
              <a:t>Context 管本次调用；Memory 管状态延续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179F99-BBE2-4755-B8C1-BDB49149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368"/>
                </a:solidFill>
              </a:defRPr>
            </a:pPr>
            <a:r>
              <a:rPr sz="1500" b="0">
                <a:solidFill>
                  <a:srgbClr val="5F6368"/>
                </a:solidFill>
              </a:rPr>
              <a:t>二者相关，但不是同一个概念：Context 面向本次 turn，Memory 面向状态延续。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EA6AC7-6437-4E71-8BAE-D81F9588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2724150" cy="2990850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0E6D32-9EC5-406C-8616-FCA2EA0D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Memory / State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FC2988-4D90-4A97-82BE-92265D26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95625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374E1"/>
                </a:solidFill>
              </a:defRPr>
            </a:pPr>
            <a:r>
              <a:rPr sz="1125" b="1">
                <a:solidFill>
                  <a:srgbClr val="2374E1"/>
                </a:solidFill>
              </a:rPr>
              <a:t>Thread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A4DDA7-181A-4522-9055-62FD46A9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095625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消息、公开结论、任务状态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6E5611-50F6-4C4A-BE40-9CEEC2C3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374E1"/>
                </a:solidFill>
              </a:defRPr>
            </a:pPr>
            <a:r>
              <a:rPr sz="1125" b="1">
                <a:solidFill>
                  <a:srgbClr val="2374E1"/>
                </a:solidFill>
              </a:rPr>
              <a:t>Project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544411-1194-4C28-8F3A-A0DDFED1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58140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设计决策、文档、已验证证据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354805-FE32-4B7F-9EB9-07486F4D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67175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374E1"/>
                </a:solidFill>
              </a:defRPr>
            </a:pPr>
            <a:r>
              <a:rPr sz="1125" b="1">
                <a:solidFill>
                  <a:srgbClr val="2374E1"/>
                </a:solidFill>
              </a:rPr>
              <a:t>User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4691BC-32D7-404D-BFA0-A7D8239D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67175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偏好、画像、明确确认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13BC08-BCFC-40BF-959E-E4DDB534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374E1"/>
                </a:solidFill>
              </a:defRPr>
            </a:pPr>
            <a:r>
              <a:rPr sz="1125" b="1">
                <a:solidFill>
                  <a:srgbClr val="2374E1"/>
                </a:solidFill>
              </a:rPr>
              <a:t>Pattern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4FA591-716D-482D-AC78-EF0AF82A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55295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成功模式，复核后可提炼为 Skill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E7633A-076F-4B2C-9355-E3107450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可手动编辑；更新需保留来源、版本与被替代关系。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74ACE9-A94D-46AF-AB80-98EEA442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57400"/>
            <a:ext cx="3733800" cy="3371850"/>
          </a:xfrm>
          <a:prstGeom xmlns:a="http://schemas.openxmlformats.org/drawingml/2006/main" prst="roundRect">
            <a:avLst>
              <a:gd name="adj" fmla="val 452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FD8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8168EB-CBAA-4F0E-A8F8-A482B09C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717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74E1"/>
                </a:solidFill>
              </a:defRPr>
            </a:pPr>
            <a:r>
              <a:rPr sz="1875" b="1">
                <a:solidFill>
                  <a:srgbClr val="2374E1"/>
                </a:solidFill>
              </a:rPr>
              <a:t>本次 Invocation 的 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F26DDA-D5E6-41BF-AA00-2656B848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52750"/>
            <a:ext cx="247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4E1"/>
          </a:solidFill>
          <a:ln xmlns:a="http://schemas.openxmlformats.org/drawingml/2006/main" w="0">
            <a:solidFill>
              <a:srgbClr val="2374E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7C1356-8371-4C76-9B97-BFA9D82D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81325"/>
            <a:ext cx="255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Agent 角色与 System Prompt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EFC573-BD72-4F16-917C-EA3316E5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62325"/>
            <a:ext cx="247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4E1"/>
          </a:solidFill>
          <a:ln xmlns:a="http://schemas.openxmlformats.org/drawingml/2006/main" w="0">
            <a:solidFill>
              <a:srgbClr val="2374E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742DB9-B249-4D56-AC30-F4D57296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90900"/>
            <a:ext cx="255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当前任务与 @ 目标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04F03E-16F7-4E44-B956-5F7E6B69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71900"/>
            <a:ext cx="247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4E1"/>
          </a:solidFill>
          <a:ln xmlns:a="http://schemas.openxmlformats.org/drawingml/2006/main" w="0">
            <a:solidFill>
              <a:srgbClr val="2374E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7B97CC-0C13-4919-82D0-BA5F88B4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00475"/>
            <a:ext cx="255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最近多轮 + 相关公开结论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0DA868-82AE-4A65-909E-29CFC516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81475"/>
            <a:ext cx="247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4E1"/>
          </a:solidFill>
          <a:ln xmlns:a="http://schemas.openxmlformats.org/drawingml/2006/main" w="0">
            <a:solidFill>
              <a:srgbClr val="2374E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C23624-91FA-473F-AD85-72DBCF6C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10050"/>
            <a:ext cx="255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已验证证据与所需 Memory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12201F-2F95-45CC-98CD-4D729A52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91050"/>
            <a:ext cx="247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4E1"/>
          </a:solidFill>
          <a:ln xmlns:a="http://schemas.openxmlformats.org/drawingml/2006/main" w="0">
            <a:solidFill>
              <a:srgbClr val="2374E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74CF8F-E978-4506-A94E-B35B4BA7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19625"/>
            <a:ext cx="255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获授权的 Skill / Tool 描述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F3416A-2764-4923-B6CB-DBF4C974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067300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组装的目标：足够完成当前任务，</a:t>
            </a:r>
          </a:p>
          <a:p xmlns:a="http://schemas.openxmlformats.org/drawingml/2006/main">
            <a:pPr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而不是把 Thread 全量塞给 CLI。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FC2F7C-8910-4295-9E58-01994C71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95600"/>
            <a:ext cx="20764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FC6120-9FD5-4AFD-BEFB-A0F575A6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独立 Agent CLI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2F7659-770E-49EB-AD54-B7F1F751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05175"/>
            <a:ext cx="1847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368"/>
                </a:solidFill>
              </a:defRPr>
            </a:pPr>
            <a:r>
              <a:rPr sz="1125" b="0">
                <a:solidFill>
                  <a:srgbClr val="5F6368"/>
                </a:solidFill>
              </a:rPr>
              <a:t>接收本次 Context</a:t>
            </a:r>
          </a:p>
          <a:p xmlns:a="http://schemas.openxmlformats.org/drawingml/2006/main">
            <a:pPr>
              <a:defRPr sz="1125" b="0">
                <a:solidFill>
                  <a:srgbClr val="5F6368"/>
                </a:solidFill>
              </a:defRPr>
            </a:pPr>
            <a:r>
              <a:rPr sz="1125" b="0">
                <a:solidFill>
                  <a:srgbClr val="5F6368"/>
                </a:solidFill>
              </a:rPr>
              <a:t>在自己的 Runtime 内完成任务</a:t>
            </a:r>
          </a:p>
        </p:txBody>
      </p:sp>
      <p:cxnSp>
        <p:nvCxnSpPr>
          <p:cNvPr id="69" name=""/>
          <p:cNvCxnSpPr>
            <a:stCxn xmlns:a="http://schemas.openxmlformats.org/drawingml/2006/main" id="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333750" y="3743325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8A64"/>
            </a:solidFill>
            <a:prstDash val="solid"/>
            <a:tailEnd type="arrow" w="sm" len="sm"/>
          </a:ln>
        </p:spPr>
      </p:cxnSp>
      <p:cxnSp>
        <p:nvCxnSpPr>
          <p:cNvPr id="70" name=""/>
          <p:cNvCxnSpPr>
            <a:stCxn xmlns:a="http://schemas.openxmlformats.org/drawingml/2006/main" id="16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 flipV="1">
            <a:off x="7981950" y="3476625"/>
            <a:ext cx="91440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74E1"/>
            </a:solidFill>
            <a:prstDash val="solid"/>
            <a:tailEnd type="arrow" w="sm" len="sm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8B9C89-BE6E-4120-B279-759BDB0A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81350"/>
            <a:ext cx="628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0">
            <a:solidFill>
              <a:srgbClr val="B6E6D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38A64"/>
                </a:solidFill>
              </a:defRPr>
            </a:pPr>
            <a:r>
              <a:rPr sz="1050" b="1">
                <a:solidFill>
                  <a:srgbClr val="138A64"/>
                </a:solidFill>
              </a:rPr>
              <a:t>召回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C0C263-5554-4C39-8FC7-DF5A6389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81350"/>
            <a:ext cx="628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BFD8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374E1"/>
                </a:solidFill>
              </a:defRPr>
            </a:pPr>
            <a:r>
              <a:rPr sz="1050" b="1">
                <a:solidFill>
                  <a:srgbClr val="2374E1"/>
                </a:solidFill>
              </a:rPr>
              <a:t>输入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7A59E0-D6BA-4A84-BDB3-4B0FF7A4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31454D-040B-4334-8967-EE7DFD30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建议策略：按任务、角色与新鲜度检索记忆；错误信息覆盖前先定位旧版本与来源。</a:t>
            </a:r>
          </a:p>
        </p:txBody>
      </p:sp>
    </p:spTree>
    <p:extLst>
      <p:ext uri="{BB962C8B-B14F-4D97-AF65-F5344CB8AC3E}">
        <p14:creationId xmlns:p14="http://schemas.microsoft.com/office/powerpoint/2010/main" val="21151039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7B6C81-29D7-42D9-B784-D42A6215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374E1"/>
                </a:solidFill>
              </a:defRPr>
            </a:pPr>
            <a:r>
              <a:rPr sz="975" b="1">
                <a:solidFill>
                  <a:srgbClr val="2374E1"/>
                </a:solidFill>
              </a:rPr>
              <a:t>CHYMIA  /  INTERVIEW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E9CAC6-4F8A-47FF-BE59-380855BB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385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F6368"/>
                </a:solidFill>
              </a:defRPr>
            </a:pPr>
            <a:r>
              <a:rPr sz="975" b="1">
                <a:solidFill>
                  <a:srgbClr val="5F6368"/>
                </a:solidFill>
              </a:rPr>
              <a:t>04 /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7B79D4-1B33-4FB7-868D-C8397B06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11111"/>
                </a:solidFill>
              </a:defRPr>
            </a:pPr>
            <a:r>
              <a:rPr sz="3375" b="1">
                <a:solidFill>
                  <a:srgbClr val="111111"/>
                </a:solidFill>
              </a:rPr>
              <a:t>Skill 指导，Tool 执行，MCP 连接外部能力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225619-3B49-4429-905B-07F34C21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368"/>
                </a:solidFill>
              </a:defRPr>
            </a:pPr>
            <a:r>
              <a:rPr sz="1500" b="0">
                <a:solidFill>
                  <a:srgbClr val="5F6368"/>
                </a:solidFill>
              </a:rPr>
              <a:t>权限不是默认全开：按 Agent、工作区信任和敏感操作确认共同约束。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0BE268-559C-4156-8BB2-5D533189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2669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FD8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2DD37-D199-48B8-AFEF-A69A5ED1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374E1"/>
                </a:solidFill>
              </a:defRPr>
            </a:pPr>
            <a:r>
              <a:rPr sz="2025" b="1">
                <a:solidFill>
                  <a:srgbClr val="2374E1"/>
                </a:solidFill>
              </a:rPr>
              <a:t>Skill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5D50DF-5D7B-4146-9ACC-1BBEAA96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2038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渐进式披露的说明与流程</a:t>
            </a:r>
          </a:p>
          <a:p xmlns:a="http://schemas.openxmlformats.org/drawingml/2006/main">
            <a:pPr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告诉 Agent 何时、为何、怎样做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CA2375-DD46-4181-BAE6-D030428A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62200"/>
            <a:ext cx="22669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3DD"/>
          </a:solidFill>
          <a:ln xmlns:a="http://schemas.openxmlformats.org/drawingml/2006/main" w="9525">
            <a:solidFill>
              <a:srgbClr val="F7DCA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DFB1E7-46AD-4087-A3E4-340CF6E7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955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56800"/>
                </a:solidFill>
              </a:defRPr>
            </a:pPr>
            <a:r>
              <a:rPr sz="2025" b="1">
                <a:solidFill>
                  <a:srgbClr val="B56800"/>
                </a:solidFill>
              </a:rPr>
              <a:t>Tool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24A51C-B4A5-4E24-9223-6C8D6F44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71775"/>
            <a:ext cx="2038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真实执行能力</a:t>
            </a:r>
          </a:p>
          <a:p xmlns:a="http://schemas.openxmlformats.org/drawingml/2006/main">
            <a:pPr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名称 + 描述 + 参数 Schema + 返回结果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C92D7C-8585-459C-8589-D8F257CA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62200"/>
            <a:ext cx="22669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B6E6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0BB1A1-D03F-41F4-A381-4366827D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955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8A64"/>
                </a:solidFill>
              </a:defRPr>
            </a:pPr>
            <a:r>
              <a:rPr sz="1875" b="1">
                <a:solidFill>
                  <a:srgbClr val="138A64"/>
                </a:solidFill>
              </a:rPr>
              <a:t>MCP Server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EFAC08-76E8-4160-BC9F-0C5F5238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71775"/>
            <a:ext cx="2038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标准化的工具服务接口</a:t>
            </a:r>
          </a:p>
          <a:p xmlns:a="http://schemas.openxmlformats.org/drawingml/2006/main">
            <a:pPr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暴露可调用工具与资源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9D829B-0524-449B-AD4B-145A3F96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62200"/>
            <a:ext cx="1352550" cy="156210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D81DB7-9F07-45F0-B9DB-BB5DC305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95550"/>
            <a:ext cx="108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Chymia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6A7241-BCF3-4308-920E-ED247347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771775"/>
            <a:ext cx="1123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368"/>
                </a:solidFill>
              </a:defRPr>
            </a:pPr>
            <a:r>
              <a:rPr sz="1125" b="0">
                <a:solidFill>
                  <a:srgbClr val="5F6368"/>
                </a:solidFill>
              </a:rPr>
              <a:t>回调 API</a:t>
            </a:r>
          </a:p>
          <a:p xmlns:a="http://schemas.openxmlformats.org/drawingml/2006/main">
            <a:pPr>
              <a:defRPr sz="1125" b="0">
                <a:solidFill>
                  <a:srgbClr val="5F6368"/>
                </a:solidFill>
              </a:defRPr>
            </a:pPr>
            <a:r>
              <a:rPr sz="1125" b="0">
                <a:solidFill>
                  <a:srgbClr val="5F6368"/>
                </a:solidFill>
              </a:rPr>
              <a:t>验证绑定</a:t>
            </a:r>
          </a:p>
          <a:p xmlns:a="http://schemas.openxmlformats.org/drawingml/2006/main">
            <a:pPr>
              <a:defRPr sz="1125" b="0">
                <a:solidFill>
                  <a:srgbClr val="5F6368"/>
                </a:solidFill>
              </a:defRPr>
            </a:pPr>
            <a:r>
              <a:rPr sz="1125" b="0">
                <a:solidFill>
                  <a:srgbClr val="5F6368"/>
                </a:solidFill>
              </a:rPr>
              <a:t>写回 Event</a:t>
            </a:r>
          </a:p>
        </p:txBody>
      </p:sp>
      <p:cxnSp>
        <p:nvCxnSpPr>
          <p:cNvPr id="47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876550" y="3143250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74E1"/>
            </a:solidFill>
            <a:prstDash val="solid"/>
            <a:tailEnd type="arrow" w="sm" len="sm"/>
          </a:ln>
        </p:spPr>
      </p:cxnSp>
      <p:cxnSp>
        <p:nvCxnSpPr>
          <p:cNvPr id="48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943600" y="3143250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6800"/>
            </a:solidFill>
            <a:prstDash val="solid"/>
            <a:tailEnd type="arrow" w="sm" len="sm"/>
          </a:ln>
        </p:spPr>
      </p:cxnSp>
      <p:cxnSp>
        <p:nvCxnSpPr>
          <p:cNvPr id="49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010650" y="31432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8A64"/>
            </a:solidFill>
            <a:prstDash val="solid"/>
            <a:tailEnd type="arrow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A68685-FB55-4F69-93BC-0982D6D8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575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374E1"/>
                </a:solidFill>
              </a:defRPr>
            </a:pPr>
            <a:r>
              <a:rPr sz="1050" b="1">
                <a:solidFill>
                  <a:srgbClr val="2374E1"/>
                </a:solidFill>
              </a:rPr>
              <a:t>指导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DD9849-F99E-4E53-94C1-76B98E24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575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56800"/>
                </a:solidFill>
              </a:defRPr>
            </a:pPr>
            <a:r>
              <a:rPr sz="1050" b="1">
                <a:solidFill>
                  <a:srgbClr val="B56800"/>
                </a:solidFill>
              </a:rPr>
              <a:t>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8A27E1-56F3-4D3A-8213-46648B51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5752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38A64"/>
                </a:solidFill>
              </a:defRPr>
            </a:pPr>
            <a:r>
              <a:rPr sz="1050" b="1">
                <a:solidFill>
                  <a:srgbClr val="138A64"/>
                </a:solidFill>
              </a:rPr>
              <a:t>回流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3B4F60-23ED-48E0-930B-D48C25AE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3632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2EC3D5-1008-491C-963D-CDD0D02D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91075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权限边界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DB426F-CCAB-468F-91A2-D5F318A5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695825"/>
            <a:ext cx="2305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Agent 配置：可用 Skill / Tool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48573F-209C-4423-9B97-1AA101F3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69582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工作区：信任后开放文件与敏感能力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CFF69D-A312-4A69-A3D3-10EFAE38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95825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用户：Bash 等敏感操作仍需确认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271FDA-4F0F-493C-9C2A-5075015A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029200"/>
            <a:ext cx="695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每次工具调用绑定 thread / agent / invocation，防止跨会话串台。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016889-6F62-4BC3-B667-DC6A9B3D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B989A2-C4CE-4F54-8381-56536F14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MCP 不是另一个 Agent：它是让 Agent 以统一协议使用外部工具和资源的接口层。</a:t>
            </a:r>
          </a:p>
        </p:txBody>
      </p:sp>
    </p:spTree>
    <p:extLst>
      <p:ext uri="{BB962C8B-B14F-4D97-AF65-F5344CB8AC3E}">
        <p14:creationId xmlns:p14="http://schemas.microsoft.com/office/powerpoint/2010/main" val="16149789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B86692-5A11-4298-9E7C-CC833B2E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374E1"/>
                </a:solidFill>
              </a:defRPr>
            </a:pPr>
            <a:r>
              <a:rPr sz="975" b="1">
                <a:solidFill>
                  <a:srgbClr val="2374E1"/>
                </a:solidFill>
              </a:rPr>
              <a:t>CHYMIA  /  INTERVIEW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CA64F7-5D83-42A5-B474-4454A8F9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385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F6368"/>
                </a:solidFill>
              </a:defRPr>
            </a:pPr>
            <a:r>
              <a:rPr sz="975" b="1">
                <a:solidFill>
                  <a:srgbClr val="5F6368"/>
                </a:solidFill>
              </a:rPr>
              <a:t>05 /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F1EF9-11D6-4674-8A87-9C87C380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11111"/>
                </a:solidFill>
              </a:defRPr>
            </a:pPr>
            <a:r>
              <a:rPr sz="3375" b="1">
                <a:solidFill>
                  <a:srgbClr val="111111"/>
                </a:solidFill>
              </a:rPr>
              <a:t>先验收协作链路，再评估协作收益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A5BFA7-3312-48F6-8952-19C080CD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368"/>
                </a:solidFill>
              </a:defRPr>
            </a:pPr>
            <a:r>
              <a:rPr sz="1500" b="0">
                <a:solidFill>
                  <a:srgbClr val="5F6368"/>
                </a:solidFill>
              </a:rPr>
              <a:t>早期产品不应虚构一条通用分数；先证明协作正确、可追踪、可复盘。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A0CCEC-BF90-48A4-8D88-5C22747F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0275"/>
            <a:ext cx="419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4E1"/>
          </a:solidFill>
          <a:ln xmlns:a="http://schemas.openxmlformats.org/drawingml/2006/main" w="0">
            <a:solidFill>
              <a:srgbClr val="2374E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072351-6A22-4CEA-844B-19AC6EB9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95500"/>
            <a:ext cx="54102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EE48B8-C920-4B66-AD1C-2F018626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228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374E1"/>
                </a:solidFill>
              </a:defRPr>
            </a:pPr>
            <a:r>
              <a:rPr sz="1425" b="1">
                <a:solidFill>
                  <a:srgbClr val="2374E1"/>
                </a:solidFill>
              </a:rPr>
              <a:t>协作是否正确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12DA96-5693-4C0F-9846-F5A03C27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24125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被 @ 的 Agent 是否收到正确任务；串并行、冻结与公开结论是否符合预期。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7E66D4-0ABE-42E0-81C6-344E5E79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67075"/>
            <a:ext cx="419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A64"/>
          </a:solidFill>
          <a:ln xmlns:a="http://schemas.openxmlformats.org/drawingml/2006/main" w="0">
            <a:solidFill>
              <a:srgbClr val="138A6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7B0A18-BA06-452C-96CF-3ABC040D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62300"/>
            <a:ext cx="54102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0">
            <a:solidFill>
              <a:srgbClr val="E8F7F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06C0AD-7800-4671-8017-096D5879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95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8A64"/>
                </a:solidFill>
              </a:defRPr>
            </a:pPr>
            <a:r>
              <a:rPr sz="1425" b="1">
                <a:solidFill>
                  <a:srgbClr val="138A64"/>
                </a:solidFill>
              </a:rPr>
              <a:t>结果是否可验收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12F9F8-987B-4225-9F8D-0E35ECCC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590925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代码任务可用测试、review、golden set 或指定 Agent 的验收结论判断。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21C88F-39FB-4D94-9A3B-E1E575C9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33875"/>
            <a:ext cx="419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6800"/>
          </a:solidFill>
          <a:ln xmlns:a="http://schemas.openxmlformats.org/drawingml/2006/main" w="0">
            <a:solidFill>
              <a:srgbClr val="B568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DA0E5D-953C-445D-B93F-36C1FFC5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29100"/>
            <a:ext cx="54102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3DD"/>
          </a:solidFill>
          <a:ln xmlns:a="http://schemas.openxmlformats.org/drawingml/2006/main" w="0">
            <a:solidFill>
              <a:srgbClr val="FFF3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18DCF1-00E1-4253-9162-205BD48F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624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56800"/>
                </a:solidFill>
              </a:defRPr>
            </a:pPr>
            <a:r>
              <a:rPr sz="1425" b="1">
                <a:solidFill>
                  <a:srgbClr val="B56800"/>
                </a:solidFill>
              </a:rPr>
              <a:t>失败是否可诊断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E4D87F-A039-42EE-987C-D0EE09BE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657725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输出、工具结果、状态、Session 与 Invocation 被统一 Event 记录。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F3ADA8-4154-42BB-B83C-5AD78766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95500"/>
            <a:ext cx="3695700" cy="31242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DC9635-650F-4CA0-9645-A09C0B38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812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一个可演示的真实链路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8CC806-AEA1-4BDF-A30B-392660DF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90850"/>
            <a:ext cx="13144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3AFDAF-682F-4072-9D59-3AA05150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242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架构设计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0A8929-2709-4A83-8546-0E9C5498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00425"/>
            <a:ext cx="1085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Gemini / Codex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FB2192-2A4E-47E3-B5EC-A9ACC6D3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90850"/>
            <a:ext cx="13144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FF118D-4C3A-4FE7-B53D-20C00660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242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实现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CAEF9E-7F46-42A6-8F2F-B3328214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00425"/>
            <a:ext cx="1085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Claude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6EA1B0-8CFE-4823-A0C0-38B21A5D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171950"/>
            <a:ext cx="13144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A45670-E01C-420F-9FB3-7C14989B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053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验收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C91DD5-68C9-418B-A04D-1609A546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581525"/>
            <a:ext cx="1085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Gemini / DeepSeek</a:t>
            </a:r>
          </a:p>
        </p:txBody>
      </p:sp>
      <p:cxnSp>
        <p:nvCxnSpPr>
          <p:cNvPr id="60" name=""/>
          <p:cNvCxnSpPr>
            <a:stCxn xmlns:a="http://schemas.openxmlformats.org/drawingml/2006/main" id="19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8877300" y="32956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74E1"/>
            </a:solidFill>
            <a:prstDash val="solid"/>
            <a:tailEnd type="arrow" w="sm" len="sm"/>
          </a:ln>
        </p:spPr>
      </p:cxnSp>
      <p:cxnSp>
        <p:nvCxnSpPr>
          <p:cNvPr id="61" name=""/>
          <p:cNvCxnSpPr>
            <a:stCxn xmlns:a="http://schemas.openxmlformats.org/drawingml/2006/main" id="22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 flipH="1">
            <a:off x="9096375" y="3600450"/>
            <a:ext cx="876300" cy="571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8A64"/>
            </a:solidFill>
            <a:prstDash val="solid"/>
            <a:tailEnd type="arrow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C2798E-AAAE-4A4F-BA71-193FB23A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9149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同一个 Thread：前一位的公开结论</a:t>
            </a:r>
          </a:p>
          <a:p xmlns:a="http://schemas.openxmlformats.org/drawingml/2006/main">
            <a:pPr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成为下一位的可读上下文。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31325E-28D2-4161-8B3B-448EC78B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A24178-268F-4494-AB6E-996DCA8B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产品价值不是“多个模型一起说话”，而是让协作过程可控、可复用、可复盘。</a:t>
            </a:r>
          </a:p>
        </p:txBody>
      </p:sp>
    </p:spTree>
    <p:extLst>
      <p:ext uri="{BB962C8B-B14F-4D97-AF65-F5344CB8AC3E}">
        <p14:creationId xmlns:p14="http://schemas.microsoft.com/office/powerpoint/2010/main" val="10942417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2026-07-23T06:14:29.9990000Z</dcterms:created>
  <dcterms:modified xsi:type="dcterms:W3CDTF">2026-07-23T06:14:30.0000000Z</dcterms:modified>
</coreProperties>
</file>